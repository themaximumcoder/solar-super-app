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7594600" cy="10737850"/>
  <p:notesSz cx="7594600" cy="10737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83" d="100"/>
          <a:sy n="83" d="100"/>
        </p:scale>
        <p:origin x="1204" y="-151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14473" y="426211"/>
            <a:ext cx="3533902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68954" y="3990847"/>
            <a:ext cx="4102734" cy="4244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8120">
              <a:lnSpc>
                <a:spcPct val="100000"/>
              </a:lnSpc>
              <a:spcBef>
                <a:spcPts val="100"/>
              </a:spcBef>
            </a:pPr>
            <a:r>
              <a:rPr dirty="0"/>
              <a:t>Work</a:t>
            </a:r>
            <a:r>
              <a:rPr spc="-60" dirty="0"/>
              <a:t> </a:t>
            </a:r>
            <a:r>
              <a:rPr spc="-10" dirty="0"/>
              <a:t>Completion</a:t>
            </a:r>
            <a:r>
              <a:rPr spc="-75" dirty="0"/>
              <a:t> </a:t>
            </a:r>
            <a:r>
              <a:rPr spc="-20" dirty="0"/>
              <a:t>Form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624631"/>
              </p:ext>
            </p:extLst>
          </p:nvPr>
        </p:nvGraphicFramePr>
        <p:xfrm>
          <a:off x="914704" y="1278889"/>
          <a:ext cx="5726430" cy="6984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3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629">
                <a:tc>
                  <a:txBody>
                    <a:bodyPr/>
                    <a:lstStyle/>
                    <a:p>
                      <a:pPr marL="67945">
                        <a:lnSpc>
                          <a:spcPts val="1160"/>
                        </a:lnSpc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Activity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800" dirty="0">
                          <a:latin typeface="Trebuchet MS"/>
                          <a:cs typeface="Trebuchet MS"/>
                        </a:rPr>
                        <a:t>ATAP</a:t>
                      </a:r>
                      <a:r>
                        <a:rPr sz="800" spc="1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spc="-10" dirty="0">
                          <a:latin typeface="Trebuchet MS"/>
                          <a:cs typeface="Trebuchet MS"/>
                        </a:rPr>
                        <a:t>installation</a:t>
                      </a:r>
                      <a:r>
                        <a:rPr sz="800" spc="1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en-MY" sz="800" spc="9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lang="en-US" sz="800" spc="-10" dirty="0">
                          <a:latin typeface="Trebuchet MS"/>
                          <a:cs typeface="Trebuchet MS"/>
                        </a:rPr>
                        <a:t>{rating}</a:t>
                      </a:r>
                      <a:r>
                        <a:rPr sz="800" spc="-10" dirty="0" err="1">
                          <a:latin typeface="Trebuchet MS"/>
                          <a:cs typeface="Trebuchet MS"/>
                        </a:rPr>
                        <a:t>kWp</a:t>
                      </a:r>
                      <a:endParaRPr sz="800" dirty="0">
                        <a:latin typeface="Trebuchet MS"/>
                        <a:cs typeface="Trebuchet MS"/>
                      </a:endParaRPr>
                    </a:p>
                  </a:txBody>
                  <a:tcPr marL="0" marR="0" marT="444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">
                <a:tc>
                  <a:txBody>
                    <a:bodyPr/>
                    <a:lstStyle/>
                    <a:p>
                      <a:pPr marL="67945">
                        <a:lnSpc>
                          <a:spcPts val="1160"/>
                        </a:lnSpc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Client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lang="en-US" sz="800" dirty="0">
                          <a:latin typeface="Trebuchet MS"/>
                          <a:cs typeface="Trebuchet MS"/>
                        </a:rPr>
                        <a:t>{name}</a:t>
                      </a:r>
                      <a:endParaRPr sz="800" dirty="0">
                        <a:latin typeface="Trebuchet MS"/>
                        <a:cs typeface="Trebuchet MS"/>
                      </a:endParaRPr>
                    </a:p>
                  </a:txBody>
                  <a:tcPr marL="0" marR="0" marT="13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290">
                <a:tc>
                  <a:txBody>
                    <a:bodyPr/>
                    <a:lstStyle/>
                    <a:p>
                      <a:pPr marL="67945">
                        <a:lnSpc>
                          <a:spcPts val="1160"/>
                        </a:lnSpc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Location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lang="en-US" sz="800" dirty="0">
                          <a:latin typeface="Trebuchet MS"/>
                          <a:cs typeface="Trebuchet MS"/>
                        </a:rPr>
                        <a:t>{address}</a:t>
                      </a:r>
                      <a:endParaRPr sz="800" dirty="0">
                        <a:latin typeface="Trebuchet MS"/>
                        <a:cs typeface="Trebuchet MS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290">
                <a:tc>
                  <a:txBody>
                    <a:bodyPr/>
                    <a:lstStyle/>
                    <a:p>
                      <a:pPr marL="67945">
                        <a:lnSpc>
                          <a:spcPts val="1160"/>
                        </a:lnSpc>
                      </a:pPr>
                      <a:r>
                        <a:rPr sz="1000" spc="-20" dirty="0">
                          <a:latin typeface="Arial MT"/>
                          <a:cs typeface="Arial MT"/>
                        </a:rPr>
                        <a:t>Date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en-US" sz="800" spc="-10" dirty="0">
                          <a:latin typeface="Trebuchet MS"/>
                          <a:cs typeface="Trebuchet MS"/>
                        </a:rPr>
                        <a:t>{date}</a:t>
                      </a:r>
                      <a:endParaRPr sz="800" dirty="0">
                        <a:latin typeface="Trebuchet MS"/>
                        <a:cs typeface="Trebuchet MS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02004" y="2223261"/>
            <a:ext cx="5758180" cy="148399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algn="just">
              <a:lnSpc>
                <a:spcPct val="103499"/>
              </a:lnSpc>
              <a:spcBef>
                <a:spcPts val="55"/>
              </a:spcBef>
            </a:pPr>
            <a:r>
              <a:rPr sz="1000" dirty="0">
                <a:latin typeface="Arial MT"/>
                <a:cs typeface="Arial MT"/>
              </a:rPr>
              <a:t>The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Solar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PV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system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installed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is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equipped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with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Solar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PV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panels,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inverter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and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it’s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cabling,</a:t>
            </a:r>
            <a:r>
              <a:rPr sz="1000" spc="4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AC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breaker </a:t>
            </a:r>
            <a:r>
              <a:rPr sz="1000" dirty="0">
                <a:latin typeface="Arial MT"/>
                <a:cs typeface="Arial MT"/>
              </a:rPr>
              <a:t>and</a:t>
            </a:r>
            <a:r>
              <a:rPr sz="1000" spc="5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PV</a:t>
            </a:r>
            <a:r>
              <a:rPr sz="1000" spc="5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meter</a:t>
            </a:r>
            <a:r>
              <a:rPr sz="1000" spc="4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connecting</a:t>
            </a:r>
            <a:r>
              <a:rPr sz="1000" spc="5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4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5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house’s</a:t>
            </a:r>
            <a:r>
              <a:rPr sz="1000" spc="5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Distribution</a:t>
            </a:r>
            <a:r>
              <a:rPr sz="1000" spc="6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Board</a:t>
            </a:r>
            <a:r>
              <a:rPr sz="1000" spc="65" dirty="0">
                <a:latin typeface="Arial MT"/>
                <a:cs typeface="Arial MT"/>
              </a:rPr>
              <a:t> </a:t>
            </a:r>
            <a:r>
              <a:rPr sz="1000" i="1" dirty="0">
                <a:latin typeface="Arial"/>
                <a:cs typeface="Arial"/>
              </a:rPr>
              <a:t>(please</a:t>
            </a:r>
            <a:r>
              <a:rPr sz="1000" i="1" spc="5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refer</a:t>
            </a:r>
            <a:r>
              <a:rPr sz="1000" i="1" spc="6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to</a:t>
            </a:r>
            <a:r>
              <a:rPr sz="1000" i="1" spc="5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page</a:t>
            </a:r>
            <a:r>
              <a:rPr sz="1000" i="1" spc="4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2</a:t>
            </a:r>
            <a:r>
              <a:rPr sz="1000" i="1" spc="5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for</a:t>
            </a:r>
            <a:r>
              <a:rPr sz="1000" i="1" spc="8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PV</a:t>
            </a:r>
            <a:r>
              <a:rPr sz="1000" i="1" spc="5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panel</a:t>
            </a:r>
            <a:r>
              <a:rPr sz="1000" i="1" spc="45" dirty="0">
                <a:latin typeface="Arial"/>
                <a:cs typeface="Arial"/>
              </a:rPr>
              <a:t> </a:t>
            </a:r>
            <a:r>
              <a:rPr sz="1000" i="1" spc="-25" dirty="0">
                <a:latin typeface="Arial"/>
                <a:cs typeface="Arial"/>
              </a:rPr>
              <a:t>and </a:t>
            </a:r>
            <a:r>
              <a:rPr sz="1000" i="1" dirty="0">
                <a:latin typeface="Arial"/>
                <a:cs typeface="Arial"/>
              </a:rPr>
              <a:t>inverter</a:t>
            </a:r>
            <a:r>
              <a:rPr sz="1000" i="1" spc="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brand,</a:t>
            </a:r>
            <a:r>
              <a:rPr sz="1000" i="1" spc="2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model</a:t>
            </a:r>
            <a:r>
              <a:rPr sz="1000" i="1" spc="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and</a:t>
            </a:r>
            <a:r>
              <a:rPr sz="1000" i="1" spc="2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quantity</a:t>
            </a:r>
            <a:r>
              <a:rPr sz="1000" i="1" spc="2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installed).</a:t>
            </a:r>
            <a:r>
              <a:rPr sz="1000" i="1" spc="30" dirty="0">
                <a:latin typeface="Arial"/>
                <a:cs typeface="Arial"/>
              </a:rPr>
              <a:t> </a:t>
            </a:r>
            <a:r>
              <a:rPr sz="1000" dirty="0">
                <a:latin typeface="Arial MT"/>
                <a:cs typeface="Arial MT"/>
              </a:rPr>
              <a:t>Please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review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work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that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has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been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completed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before </a:t>
            </a:r>
            <a:r>
              <a:rPr sz="1000" dirty="0">
                <a:latin typeface="Arial MT"/>
                <a:cs typeface="Arial MT"/>
              </a:rPr>
              <a:t>signing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this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document.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After the review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is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complete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and are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satisfactory, kindly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acknowledge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work </a:t>
            </a:r>
            <a:r>
              <a:rPr sz="1000" dirty="0">
                <a:latin typeface="Arial MT"/>
                <a:cs typeface="Arial MT"/>
              </a:rPr>
              <a:t>completion</a:t>
            </a:r>
            <a:r>
              <a:rPr sz="1000" spc="4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for</a:t>
            </a:r>
            <a:r>
              <a:rPr sz="1000" spc="6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5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company</a:t>
            </a:r>
            <a:r>
              <a:rPr sz="1000" spc="7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and</a:t>
            </a:r>
            <a:r>
              <a:rPr sz="1000" spc="5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5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system</a:t>
            </a:r>
            <a:r>
              <a:rPr sz="1000" spc="5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shall</a:t>
            </a:r>
            <a:r>
              <a:rPr sz="1000" spc="4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fully</a:t>
            </a:r>
            <a:r>
              <a:rPr sz="1000" spc="6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handover</a:t>
            </a:r>
            <a:r>
              <a:rPr sz="1000" spc="6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5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6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house</a:t>
            </a:r>
            <a:r>
              <a:rPr sz="1000" spc="6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owner</a:t>
            </a:r>
            <a:r>
              <a:rPr sz="1000" spc="5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effective</a:t>
            </a:r>
            <a:r>
              <a:rPr sz="1000" spc="5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on</a:t>
            </a:r>
            <a:r>
              <a:rPr sz="1000" spc="5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the </a:t>
            </a:r>
            <a:r>
              <a:rPr sz="1000" dirty="0">
                <a:latin typeface="Arial MT"/>
                <a:cs typeface="Arial MT"/>
              </a:rPr>
              <a:t>date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signed.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100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latin typeface="Arial MT"/>
                <a:cs typeface="Arial MT"/>
              </a:rPr>
              <a:t>By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signing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below,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certify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that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job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was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done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my </a:t>
            </a:r>
            <a:r>
              <a:rPr sz="1000" spc="-10" dirty="0">
                <a:latin typeface="Arial MT"/>
                <a:cs typeface="Arial MT"/>
              </a:rPr>
              <a:t>satisfaction.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2004" y="4049395"/>
            <a:ext cx="6813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Arial"/>
                <a:cs typeface="Arial"/>
              </a:rPr>
              <a:t>Review</a:t>
            </a:r>
            <a:r>
              <a:rPr sz="1000" b="1" spc="-5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by</a:t>
            </a:r>
            <a:r>
              <a:rPr sz="1000" spc="-25" dirty="0">
                <a:latin typeface="Arial MT"/>
                <a:cs typeface="Arial MT"/>
              </a:rPr>
              <a:t>: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83284" y="4985243"/>
            <a:ext cx="1129030" cy="0"/>
          </a:xfrm>
          <a:custGeom>
            <a:avLst/>
            <a:gdLst/>
            <a:ahLst/>
            <a:cxnLst/>
            <a:rect l="l" t="t" r="r" b="b"/>
            <a:pathLst>
              <a:path w="1129030">
                <a:moveTo>
                  <a:pt x="0" y="0"/>
                </a:moveTo>
                <a:lnTo>
                  <a:pt x="1128454" y="0"/>
                </a:lnTo>
              </a:path>
            </a:pathLst>
          </a:custGeom>
          <a:ln w="112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70584" y="4971414"/>
            <a:ext cx="1040130" cy="484107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ts val="1150"/>
              </a:lnSpc>
              <a:spcBef>
                <a:spcPts val="175"/>
              </a:spcBef>
            </a:pPr>
            <a:r>
              <a:rPr sz="1000" b="1" dirty="0">
                <a:latin typeface="Arial"/>
                <a:cs typeface="Arial"/>
              </a:rPr>
              <a:t>Customer</a:t>
            </a:r>
            <a:r>
              <a:rPr sz="1000" b="1" spc="-4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Name:</a:t>
            </a:r>
            <a:r>
              <a:rPr lang="en-US" sz="1000" b="1" spc="-10" dirty="0">
                <a:latin typeface="Arial"/>
                <a:cs typeface="Arial"/>
              </a:rPr>
              <a:t>{name}</a:t>
            </a:r>
            <a:r>
              <a:rPr sz="1000" b="1" spc="-10" dirty="0">
                <a:latin typeface="Arial"/>
                <a:cs typeface="Arial"/>
              </a:rPr>
              <a:t> Date:</a:t>
            </a:r>
            <a:r>
              <a:rPr lang="en-US" sz="1000" b="1" spc="-10" dirty="0">
                <a:latin typeface="Arial"/>
                <a:cs typeface="Arial"/>
              </a:rPr>
              <a:t>{</a:t>
            </a:r>
            <a:r>
              <a:rPr lang="en-US" sz="1000" b="1" spc="-10" dirty="0" err="1">
                <a:latin typeface="Arial"/>
                <a:cs typeface="Arial"/>
              </a:rPr>
              <a:t>date_sign</a:t>
            </a:r>
            <a:r>
              <a:rPr lang="en-US" sz="1000" b="1" spc="-10" dirty="0">
                <a:latin typeface="Arial"/>
                <a:cs typeface="Arial"/>
              </a:rPr>
              <a:t>}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70584" y="5523357"/>
            <a:ext cx="15913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Arial"/>
                <a:cs typeface="Arial"/>
              </a:rPr>
              <a:t>Company</a:t>
            </a:r>
            <a:r>
              <a:rPr sz="1000" b="1" spc="-4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Representative: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83284" y="6279373"/>
            <a:ext cx="1057275" cy="0"/>
          </a:xfrm>
          <a:custGeom>
            <a:avLst/>
            <a:gdLst/>
            <a:ahLst/>
            <a:cxnLst/>
            <a:rect l="l" t="t" r="r" b="b"/>
            <a:pathLst>
              <a:path w="1057275">
                <a:moveTo>
                  <a:pt x="0" y="0"/>
                </a:moveTo>
                <a:lnTo>
                  <a:pt x="1056986" y="0"/>
                </a:lnTo>
              </a:path>
            </a:pathLst>
          </a:custGeom>
          <a:ln w="112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70584" y="6267069"/>
            <a:ext cx="1454150" cy="469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180"/>
              </a:lnSpc>
              <a:spcBef>
                <a:spcPts val="95"/>
              </a:spcBef>
            </a:pPr>
            <a:r>
              <a:rPr sz="1000" b="1" spc="-10" dirty="0">
                <a:latin typeface="Arial"/>
                <a:cs typeface="Arial"/>
              </a:rPr>
              <a:t>Name:</a:t>
            </a:r>
            <a:r>
              <a:rPr sz="1000" b="1" spc="-105" dirty="0">
                <a:latin typeface="Arial"/>
                <a:cs typeface="Arial"/>
              </a:rPr>
              <a:t> </a:t>
            </a:r>
            <a:r>
              <a:rPr lang="en-US" sz="800" b="1" spc="-10" dirty="0">
                <a:latin typeface="Trebuchet MS"/>
                <a:cs typeface="Arial"/>
              </a:rPr>
              <a:t>{</a:t>
            </a:r>
            <a:r>
              <a:rPr lang="en-US" sz="800" b="1" spc="-10" dirty="0" err="1">
                <a:latin typeface="Trebuchet MS"/>
                <a:cs typeface="Arial"/>
              </a:rPr>
              <a:t>salesman_name</a:t>
            </a:r>
            <a:r>
              <a:rPr lang="en-US" sz="800" b="1" spc="-10" dirty="0">
                <a:latin typeface="Trebuchet MS"/>
                <a:cs typeface="Arial"/>
              </a:rPr>
              <a:t>}</a:t>
            </a:r>
            <a:endParaRPr sz="800" dirty="0">
              <a:latin typeface="Trebuchet MS"/>
              <a:cs typeface="Trebuchet MS"/>
            </a:endParaRPr>
          </a:p>
          <a:p>
            <a:pPr marL="12700">
              <a:lnSpc>
                <a:spcPts val="1150"/>
              </a:lnSpc>
            </a:pPr>
            <a:r>
              <a:rPr sz="1000" b="1" dirty="0">
                <a:latin typeface="Arial"/>
                <a:cs typeface="Arial"/>
              </a:rPr>
              <a:t>Company:</a:t>
            </a:r>
            <a:r>
              <a:rPr sz="1000" b="1" spc="125" dirty="0">
                <a:latin typeface="Arial"/>
                <a:cs typeface="Arial"/>
              </a:rPr>
              <a:t> </a:t>
            </a:r>
            <a:r>
              <a:rPr sz="800" dirty="0">
                <a:latin typeface="Trebuchet MS"/>
                <a:cs typeface="Trebuchet MS"/>
              </a:rPr>
              <a:t>Ai</a:t>
            </a:r>
            <a:r>
              <a:rPr sz="800" spc="60" dirty="0">
                <a:latin typeface="Trebuchet MS"/>
                <a:cs typeface="Trebuchet MS"/>
              </a:rPr>
              <a:t> </a:t>
            </a:r>
            <a:r>
              <a:rPr sz="800" dirty="0">
                <a:latin typeface="Trebuchet MS"/>
                <a:cs typeface="Trebuchet MS"/>
              </a:rPr>
              <a:t>solar</a:t>
            </a:r>
            <a:r>
              <a:rPr sz="800" spc="65" dirty="0">
                <a:latin typeface="Trebuchet MS"/>
                <a:cs typeface="Trebuchet MS"/>
              </a:rPr>
              <a:t> </a:t>
            </a:r>
            <a:r>
              <a:rPr sz="800" dirty="0">
                <a:latin typeface="Trebuchet MS"/>
                <a:cs typeface="Trebuchet MS"/>
              </a:rPr>
              <a:t>sdn</a:t>
            </a:r>
            <a:r>
              <a:rPr sz="800" spc="60" dirty="0">
                <a:latin typeface="Trebuchet MS"/>
                <a:cs typeface="Trebuchet MS"/>
              </a:rPr>
              <a:t> </a:t>
            </a:r>
            <a:r>
              <a:rPr sz="800" spc="-25" dirty="0">
                <a:latin typeface="Trebuchet MS"/>
                <a:cs typeface="Trebuchet MS"/>
              </a:rPr>
              <a:t>bhd</a:t>
            </a:r>
            <a:endParaRPr sz="800" dirty="0">
              <a:latin typeface="Trebuchet MS"/>
              <a:cs typeface="Trebuchet MS"/>
            </a:endParaRPr>
          </a:p>
          <a:p>
            <a:pPr marL="12700">
              <a:lnSpc>
                <a:spcPts val="1170"/>
              </a:lnSpc>
            </a:pPr>
            <a:r>
              <a:rPr sz="1000" b="1" spc="-10" dirty="0">
                <a:latin typeface="Arial"/>
                <a:cs typeface="Arial"/>
              </a:rPr>
              <a:t>Date:</a:t>
            </a:r>
            <a:r>
              <a:rPr sz="1000" b="1" spc="-60" dirty="0">
                <a:latin typeface="Arial"/>
                <a:cs typeface="Arial"/>
              </a:rPr>
              <a:t> </a:t>
            </a:r>
            <a:r>
              <a:rPr lang="en-US" sz="800" spc="-10" dirty="0">
                <a:latin typeface="Trebuchet MS"/>
                <a:cs typeface="Trebuchet MS"/>
              </a:rPr>
              <a:t>{</a:t>
            </a:r>
            <a:r>
              <a:rPr lang="en-US" sz="800" spc="-10" dirty="0" err="1">
                <a:latin typeface="Trebuchet MS"/>
                <a:cs typeface="Trebuchet MS"/>
              </a:rPr>
              <a:t>salesmansign_date</a:t>
            </a:r>
            <a:r>
              <a:rPr lang="en-US" sz="800" spc="-10" dirty="0">
                <a:latin typeface="Trebuchet MS"/>
                <a:cs typeface="Trebuchet MS"/>
              </a:rPr>
              <a:t>}</a:t>
            </a:r>
            <a:endParaRPr sz="800" dirty="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68954" y="3990847"/>
            <a:ext cx="4102735" cy="42449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345"/>
              </a:spcBef>
            </a:pPr>
            <a:r>
              <a:rPr sz="1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After</a:t>
            </a:r>
            <a:r>
              <a:rPr sz="1100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installation -</a:t>
            </a:r>
            <a:r>
              <a:rPr sz="11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SOP</a:t>
            </a:r>
            <a:r>
              <a:rPr sz="110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for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TNB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Meter</a:t>
            </a:r>
            <a:r>
              <a:rPr sz="110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change:</a:t>
            </a:r>
            <a:endParaRPr sz="1100">
              <a:latin typeface="Calibri"/>
              <a:cs typeface="Calibri"/>
            </a:endParaRPr>
          </a:p>
          <a:p>
            <a:pPr marL="96520" marR="364490" indent="144780">
              <a:lnSpc>
                <a:spcPct val="110000"/>
              </a:lnSpc>
              <a:spcBef>
                <a:spcPts val="795"/>
              </a:spcBef>
              <a:buAutoNum type="arabicParenR"/>
              <a:tabLst>
                <a:tab pos="241300" algn="l"/>
              </a:tabLst>
            </a:pPr>
            <a:r>
              <a:rPr sz="1100" dirty="0">
                <a:latin typeface="Calibri"/>
                <a:cs typeface="Calibri"/>
              </a:rPr>
              <a:t>Submit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NEM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Meter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Application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Form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TNB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Office.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Upon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the </a:t>
            </a:r>
            <a:r>
              <a:rPr sz="1100" spc="-10" dirty="0">
                <a:latin typeface="Calibri"/>
                <a:cs typeface="Calibri"/>
              </a:rPr>
              <a:t>balance-</a:t>
            </a:r>
            <a:r>
              <a:rPr sz="1100" dirty="0">
                <a:latin typeface="Calibri"/>
                <a:cs typeface="Calibri"/>
              </a:rPr>
              <a:t>payment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has been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completed.</a:t>
            </a:r>
            <a:endParaRPr sz="1100">
              <a:latin typeface="Calibri"/>
              <a:cs typeface="Calibri"/>
            </a:endParaRPr>
          </a:p>
          <a:p>
            <a:pPr marL="96520" marR="219710" indent="144780">
              <a:lnSpc>
                <a:spcPct val="110000"/>
              </a:lnSpc>
              <a:spcBef>
                <a:spcPts val="790"/>
              </a:spcBef>
              <a:buAutoNum type="arabicParenR"/>
              <a:tabLst>
                <a:tab pos="241300" algn="l"/>
              </a:tabLst>
            </a:pPr>
            <a:r>
              <a:rPr sz="1100" dirty="0">
                <a:latin typeface="Calibri"/>
                <a:cs typeface="Calibri"/>
              </a:rPr>
              <a:t>TNB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will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release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‘Demand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Letter’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including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10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Ringgit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Malaysia </a:t>
            </a:r>
            <a:r>
              <a:rPr sz="1100" dirty="0">
                <a:latin typeface="Calibri"/>
                <a:cs typeface="Calibri"/>
              </a:rPr>
              <a:t>Stamp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Duty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bill.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 solar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company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will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make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payment.</a:t>
            </a:r>
            <a:endParaRPr sz="1100">
              <a:latin typeface="Calibri"/>
              <a:cs typeface="Calibri"/>
            </a:endParaRPr>
          </a:p>
          <a:p>
            <a:pPr marL="96520" marR="182880" indent="144780">
              <a:lnSpc>
                <a:spcPct val="110000"/>
              </a:lnSpc>
              <a:spcBef>
                <a:spcPts val="795"/>
              </a:spcBef>
              <a:buAutoNum type="arabicParenR"/>
              <a:tabLst>
                <a:tab pos="241300" algn="l"/>
              </a:tabLst>
            </a:pPr>
            <a:r>
              <a:rPr sz="1100" dirty="0">
                <a:latin typeface="Calibri"/>
                <a:cs typeface="Calibri"/>
              </a:rPr>
              <a:t>NEM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Meter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change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will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processed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within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month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from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the </a:t>
            </a:r>
            <a:r>
              <a:rPr sz="1100" dirty="0">
                <a:latin typeface="Calibri"/>
                <a:cs typeface="Calibri"/>
              </a:rPr>
              <a:t>Meter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Application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Form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submission.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Meter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will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changed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on-</a:t>
            </a:r>
            <a:r>
              <a:rPr sz="1100" spc="-20" dirty="0">
                <a:latin typeface="Calibri"/>
                <a:cs typeface="Calibri"/>
              </a:rPr>
              <a:t>site </a:t>
            </a:r>
            <a:r>
              <a:rPr sz="1100" dirty="0">
                <a:latin typeface="Calibri"/>
                <a:cs typeface="Calibri"/>
              </a:rPr>
              <a:t>or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will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set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remotely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online.</a:t>
            </a:r>
            <a:r>
              <a:rPr sz="1100" spc="229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*Note: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clear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any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outstanding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TNB </a:t>
            </a:r>
            <a:r>
              <a:rPr sz="1100" spc="-10" dirty="0">
                <a:latin typeface="Calibri"/>
                <a:cs typeface="Calibri"/>
              </a:rPr>
              <a:t>bills.</a:t>
            </a:r>
            <a:endParaRPr sz="1100">
              <a:latin typeface="Calibri"/>
              <a:cs typeface="Calibri"/>
            </a:endParaRPr>
          </a:p>
          <a:p>
            <a:pPr marL="96520" marR="400050" indent="143510" algn="just">
              <a:lnSpc>
                <a:spcPct val="110000"/>
              </a:lnSpc>
              <a:spcBef>
                <a:spcPts val="790"/>
              </a:spcBef>
              <a:buAutoNum type="arabicParenR"/>
              <a:tabLst>
                <a:tab pos="240029" algn="l"/>
              </a:tabLst>
            </a:pPr>
            <a:r>
              <a:rPr sz="1100" dirty="0">
                <a:latin typeface="Calibri"/>
                <a:cs typeface="Calibri"/>
              </a:rPr>
              <a:t>7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working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days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after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NEM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Meter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has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changed,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‘Welcome </a:t>
            </a:r>
            <a:r>
              <a:rPr sz="1100" dirty="0">
                <a:latin typeface="Calibri"/>
                <a:cs typeface="Calibri"/>
              </a:rPr>
              <a:t>Letter’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will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sent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by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TNB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Owner.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Once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received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Owner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can </a:t>
            </a:r>
            <a:r>
              <a:rPr sz="1100" dirty="0">
                <a:latin typeface="Calibri"/>
                <a:cs typeface="Calibri"/>
              </a:rPr>
              <a:t>switch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system.</a:t>
            </a:r>
            <a:endParaRPr sz="1100">
              <a:latin typeface="Calibri"/>
              <a:cs typeface="Calibri"/>
            </a:endParaRPr>
          </a:p>
          <a:p>
            <a:pPr marL="241300" indent="-144780">
              <a:lnSpc>
                <a:spcPct val="100000"/>
              </a:lnSpc>
              <a:spcBef>
                <a:spcPts val="925"/>
              </a:spcBef>
              <a:buAutoNum type="arabicParenR"/>
              <a:tabLst>
                <a:tab pos="241300" algn="l"/>
              </a:tabLst>
            </a:pPr>
            <a:r>
              <a:rPr sz="1100" dirty="0">
                <a:latin typeface="Calibri"/>
                <a:cs typeface="Calibri"/>
              </a:rPr>
              <a:t>Owner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revert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‘Welcome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letter’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solar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company.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Calibri"/>
              <a:buAutoNum type="arabicParenR"/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0"/>
              </a:spcBef>
              <a:buFont typeface="Calibri"/>
              <a:buAutoNum type="arabicParenR"/>
            </a:pPr>
            <a:endParaRPr sz="1100">
              <a:latin typeface="Calibri"/>
              <a:cs typeface="Calibri"/>
            </a:endParaRPr>
          </a:p>
          <a:p>
            <a:pPr marL="96520">
              <a:lnSpc>
                <a:spcPct val="100000"/>
              </a:lnSpc>
            </a:pPr>
            <a:r>
              <a:rPr sz="1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Steps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 switch</a:t>
            </a:r>
            <a:r>
              <a:rPr sz="11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on</a:t>
            </a:r>
            <a:r>
              <a:rPr sz="110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1100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solar</a:t>
            </a:r>
            <a:r>
              <a:rPr sz="1100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system:</a:t>
            </a:r>
            <a:endParaRPr sz="1100">
              <a:latin typeface="Calibri"/>
              <a:cs typeface="Calibri"/>
            </a:endParaRPr>
          </a:p>
          <a:p>
            <a:pPr marL="241300" lvl="1" indent="-144780">
              <a:lnSpc>
                <a:spcPct val="100000"/>
              </a:lnSpc>
              <a:spcBef>
                <a:spcPts val="925"/>
              </a:spcBef>
              <a:buAutoNum type="arabicParenR"/>
              <a:tabLst>
                <a:tab pos="241300" algn="l"/>
              </a:tabLst>
            </a:pPr>
            <a:r>
              <a:rPr sz="1100" dirty="0">
                <a:latin typeface="Calibri"/>
                <a:cs typeface="Calibri"/>
              </a:rPr>
              <a:t>‘Push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Up’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Circuit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Breaker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switch.</a:t>
            </a:r>
            <a:endParaRPr sz="1100">
              <a:latin typeface="Calibri"/>
              <a:cs typeface="Calibri"/>
            </a:endParaRPr>
          </a:p>
          <a:p>
            <a:pPr marL="241300" lvl="1" indent="-144780">
              <a:lnSpc>
                <a:spcPct val="100000"/>
              </a:lnSpc>
              <a:spcBef>
                <a:spcPts val="935"/>
              </a:spcBef>
              <a:buAutoNum type="arabicParenR"/>
              <a:tabLst>
                <a:tab pos="241300" algn="l"/>
              </a:tabLst>
            </a:pPr>
            <a:r>
              <a:rPr sz="1100" dirty="0">
                <a:latin typeface="Calibri"/>
                <a:cs typeface="Calibri"/>
              </a:rPr>
              <a:t>At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bottom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inverter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– Turn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switch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clockwise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 </a:t>
            </a:r>
            <a:r>
              <a:rPr sz="1100" spc="-10" dirty="0">
                <a:latin typeface="Calibri"/>
                <a:cs typeface="Calibri"/>
              </a:rPr>
              <a:t>‘ON’.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27A107-C5A2-2358-E593-BF19AD4C8933}"/>
              </a:ext>
            </a:extLst>
          </p:cNvPr>
          <p:cNvSpPr txBox="1"/>
          <p:nvPr/>
        </p:nvSpPr>
        <p:spPr>
          <a:xfrm>
            <a:off x="1023229" y="4616261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{sign}</a:t>
            </a:r>
            <a:endParaRPr lang="en-MY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Inspection</a:t>
            </a:r>
            <a:r>
              <a:rPr spc="-135" dirty="0"/>
              <a:t> </a:t>
            </a:r>
            <a:r>
              <a:rPr dirty="0"/>
              <a:t>Checklist</a:t>
            </a:r>
            <a:r>
              <a:rPr spc="-130" dirty="0"/>
              <a:t> </a:t>
            </a:r>
            <a:r>
              <a:rPr spc="-20" dirty="0"/>
              <a:t>Form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0275" y="1089405"/>
            <a:ext cx="31864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72460" algn="l"/>
              </a:tabLst>
            </a:pPr>
            <a:r>
              <a:rPr sz="1000" b="1" dirty="0">
                <a:latin typeface="Calibri"/>
                <a:cs typeface="Calibri"/>
              </a:rPr>
              <a:t>House/Project: </a:t>
            </a:r>
            <a:r>
              <a:rPr sz="10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1357629"/>
            <a:ext cx="8013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Site</a:t>
            </a:r>
            <a:r>
              <a:rPr sz="1000" b="1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Inspection</a:t>
            </a:r>
            <a:endParaRPr sz="10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14704" y="1646173"/>
          <a:ext cx="5741035" cy="3435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0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3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3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85"/>
                        </a:lnSpc>
                      </a:pPr>
                      <a:r>
                        <a:rPr sz="1000" b="1" spc="-25" dirty="0">
                          <a:latin typeface="Calibri"/>
                          <a:cs typeface="Calibri"/>
                        </a:rPr>
                        <a:t>No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5"/>
                        </a:lnSpc>
                      </a:pPr>
                      <a:r>
                        <a:rPr sz="1000" b="1" spc="-10" dirty="0">
                          <a:latin typeface="Calibri"/>
                          <a:cs typeface="Calibri"/>
                        </a:rPr>
                        <a:t>Description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5"/>
                        </a:lnSpc>
                      </a:pPr>
                      <a:r>
                        <a:rPr sz="1000" b="1" spc="-10" dirty="0">
                          <a:latin typeface="Calibri"/>
                          <a:cs typeface="Calibri"/>
                        </a:rPr>
                        <a:t>Remark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85"/>
                        </a:lnSpc>
                      </a:pPr>
                      <a:r>
                        <a:rPr sz="1000" b="1" spc="-10" dirty="0">
                          <a:latin typeface="Calibri"/>
                          <a:cs typeface="Calibri"/>
                        </a:rPr>
                        <a:t>Photo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005">
                <a:tc>
                  <a:txBody>
                    <a:bodyPr/>
                    <a:lstStyle/>
                    <a:p>
                      <a:pPr algn="ctr">
                        <a:lnSpc>
                          <a:spcPts val="1185"/>
                        </a:lnSpc>
                      </a:pPr>
                      <a:r>
                        <a:rPr sz="1000" spc="-50" dirty="0">
                          <a:latin typeface="Calibri"/>
                          <a:cs typeface="Calibri"/>
                        </a:rPr>
                        <a:t>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ts val="1185"/>
                        </a:lnSpc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Have</a:t>
                      </a:r>
                      <a:r>
                        <a:rPr sz="10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existing</a:t>
                      </a:r>
                      <a:r>
                        <a:rPr sz="10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leaking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902004" y="2096769"/>
            <a:ext cx="10541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Material</a:t>
            </a:r>
            <a:r>
              <a:rPr sz="1000" b="1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Inspection</a:t>
            </a:r>
            <a:endParaRPr sz="100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946911"/>
              </p:ext>
            </p:extLst>
          </p:nvPr>
        </p:nvGraphicFramePr>
        <p:xfrm>
          <a:off x="914704" y="2385313"/>
          <a:ext cx="5737225" cy="13893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3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0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000" b="1" spc="-25" dirty="0">
                          <a:latin typeface="Calibri"/>
                          <a:cs typeface="Calibri"/>
                        </a:rPr>
                        <a:t>No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000" b="1" spc="-20" dirty="0">
                          <a:latin typeface="Calibri"/>
                          <a:cs typeface="Calibri"/>
                        </a:rPr>
                        <a:t>Item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170"/>
                        </a:lnSpc>
                      </a:pPr>
                      <a:r>
                        <a:rPr sz="1000" b="1" spc="-10" dirty="0">
                          <a:latin typeface="Calibri"/>
                          <a:cs typeface="Calibri"/>
                        </a:rPr>
                        <a:t>Brand/Model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70"/>
                        </a:lnSpc>
                      </a:pPr>
                      <a:r>
                        <a:rPr sz="1000" b="1" spc="-10" dirty="0">
                          <a:latin typeface="Calibri"/>
                          <a:cs typeface="Calibri"/>
                        </a:rPr>
                        <a:t>Photo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910">
                <a:tc>
                  <a:txBody>
                    <a:bodyPr/>
                    <a:lstStyle/>
                    <a:p>
                      <a:pPr algn="ctr">
                        <a:lnSpc>
                          <a:spcPts val="1185"/>
                        </a:lnSpc>
                      </a:pPr>
                      <a:r>
                        <a:rPr sz="1000" spc="-50" dirty="0">
                          <a:latin typeface="Calibri"/>
                          <a:cs typeface="Calibri"/>
                        </a:rPr>
                        <a:t>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85"/>
                        </a:lnSpc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Solar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PV</a:t>
                      </a:r>
                      <a:r>
                        <a:rPr sz="1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Module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800" dirty="0">
                          <a:latin typeface="Trebuchet MS"/>
                          <a:cs typeface="Trebuchet MS"/>
                        </a:rPr>
                        <a:t>Jinko</a:t>
                      </a:r>
                      <a:r>
                        <a:rPr sz="800" spc="11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635w</a:t>
                      </a:r>
                      <a:r>
                        <a:rPr sz="800" spc="1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en-MY" sz="800" spc="9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800" spc="11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en-US" sz="800" spc="114" dirty="0">
                          <a:latin typeface="Trebuchet MS"/>
                          <a:cs typeface="Trebuchet MS"/>
                        </a:rPr>
                        <a:t>{</a:t>
                      </a:r>
                      <a:r>
                        <a:rPr lang="en-US" sz="800" spc="114" dirty="0" err="1">
                          <a:latin typeface="Trebuchet MS"/>
                          <a:cs typeface="Trebuchet MS"/>
                        </a:rPr>
                        <a:t>panel_count</a:t>
                      </a:r>
                      <a:r>
                        <a:rPr lang="en-US" sz="800" spc="114" dirty="0">
                          <a:latin typeface="Trebuchet MS"/>
                          <a:cs typeface="Trebuchet MS"/>
                        </a:rPr>
                        <a:t>}</a:t>
                      </a:r>
                      <a:r>
                        <a:rPr sz="800" spc="1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spc="-25" dirty="0">
                          <a:latin typeface="Trebuchet MS"/>
                          <a:cs typeface="Trebuchet MS"/>
                        </a:rPr>
                        <a:t>pcs</a:t>
                      </a:r>
                      <a:endParaRPr sz="800" dirty="0">
                        <a:latin typeface="Trebuchet MS"/>
                        <a:cs typeface="Trebuchet MS"/>
                      </a:endParaRPr>
                    </a:p>
                  </a:txBody>
                  <a:tcPr marL="0" marR="0" marT="196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>
                        <a:lnSpc>
                          <a:spcPts val="1185"/>
                        </a:lnSpc>
                      </a:pPr>
                      <a:r>
                        <a:rPr sz="1000" spc="-50" dirty="0">
                          <a:latin typeface="Calibri"/>
                          <a:cs typeface="Calibri"/>
                        </a:rPr>
                        <a:t>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85"/>
                        </a:lnSpc>
                      </a:pPr>
                      <a:r>
                        <a:rPr sz="1000" spc="-10" dirty="0">
                          <a:latin typeface="Calibri"/>
                          <a:cs typeface="Calibri"/>
                        </a:rPr>
                        <a:t>Inverter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890"/>
                        </a:lnSpc>
                        <a:spcBef>
                          <a:spcPts val="414"/>
                        </a:spcBef>
                      </a:pPr>
                      <a:r>
                        <a:rPr sz="800" dirty="0">
                          <a:latin typeface="Trebuchet MS"/>
                          <a:cs typeface="Trebuchet MS"/>
                        </a:rPr>
                        <a:t>Solis</a:t>
                      </a:r>
                      <a:r>
                        <a:rPr sz="800" spc="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spc="85" dirty="0">
                          <a:latin typeface="Trebuchet MS"/>
                          <a:cs typeface="Trebuchet MS"/>
                        </a:rPr>
                        <a:t>S6-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GR1P5K</a:t>
                      </a:r>
                      <a:r>
                        <a:rPr sz="800" spc="1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spc="90" dirty="0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800" spc="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800" spc="1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spc="-25" dirty="0">
                          <a:latin typeface="Trebuchet MS"/>
                          <a:cs typeface="Trebuchet MS"/>
                        </a:rPr>
                        <a:t>nos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527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algn="ctr">
                        <a:lnSpc>
                          <a:spcPts val="1185"/>
                        </a:lnSpc>
                      </a:pPr>
                      <a:r>
                        <a:rPr sz="1000" spc="-50" dirty="0">
                          <a:latin typeface="Calibri"/>
                          <a:cs typeface="Calibri"/>
                        </a:rPr>
                        <a:t>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85"/>
                        </a:lnSpc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DC</a:t>
                      </a:r>
                      <a:r>
                        <a:rPr sz="1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Cabling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800" dirty="0">
                          <a:latin typeface="Trebuchet MS"/>
                          <a:cs typeface="Trebuchet MS"/>
                        </a:rPr>
                        <a:t>4mm2</a:t>
                      </a:r>
                      <a:r>
                        <a:rPr sz="800" spc="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spc="-10" dirty="0">
                          <a:latin typeface="Trebuchet MS"/>
                          <a:cs typeface="Trebuchet MS"/>
                        </a:rPr>
                        <a:t>1500v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8435">
                <a:tc>
                  <a:txBody>
                    <a:bodyPr/>
                    <a:lstStyle/>
                    <a:p>
                      <a:pPr algn="ctr">
                        <a:lnSpc>
                          <a:spcPts val="1185"/>
                        </a:lnSpc>
                      </a:pPr>
                      <a:r>
                        <a:rPr sz="1000" spc="-50" dirty="0">
                          <a:latin typeface="Calibri"/>
                          <a:cs typeface="Calibri"/>
                        </a:rPr>
                        <a:t>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85"/>
                        </a:lnSpc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AC</a:t>
                      </a:r>
                      <a:r>
                        <a:rPr sz="1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Earth</a:t>
                      </a:r>
                      <a:r>
                        <a:rPr sz="1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Cabling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dirty="0">
                          <a:latin typeface="Trebuchet MS"/>
                          <a:cs typeface="Trebuchet MS"/>
                        </a:rPr>
                        <a:t>6mm2</a:t>
                      </a:r>
                      <a:r>
                        <a:rPr sz="800" spc="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spc="-10" dirty="0">
                          <a:latin typeface="Trebuchet MS"/>
                          <a:cs typeface="Trebuchet MS"/>
                        </a:rPr>
                        <a:t>cu/pvc</a:t>
                      </a:r>
                      <a:r>
                        <a:rPr sz="800" spc="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&amp;</a:t>
                      </a:r>
                      <a:r>
                        <a:rPr sz="800" spc="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10mm2</a:t>
                      </a:r>
                      <a:r>
                        <a:rPr sz="800" spc="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spc="-10" dirty="0">
                          <a:latin typeface="Trebuchet MS"/>
                          <a:cs typeface="Trebuchet MS"/>
                        </a:rPr>
                        <a:t>cu/pvc</a:t>
                      </a:r>
                      <a:r>
                        <a:rPr sz="800" spc="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spc="-10" dirty="0">
                          <a:latin typeface="Trebuchet MS"/>
                          <a:cs typeface="Trebuchet MS"/>
                        </a:rPr>
                        <a:t>(green)</a:t>
                      </a:r>
                      <a:endParaRPr sz="800" dirty="0">
                        <a:latin typeface="Trebuchet MS"/>
                        <a:cs typeface="Trebuchet MS"/>
                      </a:endParaRPr>
                    </a:p>
                  </a:txBody>
                  <a:tcPr marL="0" marR="0" marT="412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8910">
                <a:tc>
                  <a:txBody>
                    <a:bodyPr/>
                    <a:lstStyle/>
                    <a:p>
                      <a:pPr algn="ctr">
                        <a:lnSpc>
                          <a:spcPts val="1185"/>
                        </a:lnSpc>
                      </a:pPr>
                      <a:r>
                        <a:rPr sz="1000" spc="-50" dirty="0">
                          <a:latin typeface="Calibri"/>
                          <a:cs typeface="Calibri"/>
                        </a:rPr>
                        <a:t>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85"/>
                        </a:lnSpc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AC</a:t>
                      </a:r>
                      <a:r>
                        <a:rPr sz="1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breaker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800" dirty="0">
                          <a:latin typeface="Trebuchet MS"/>
                          <a:cs typeface="Trebuchet MS"/>
                        </a:rPr>
                        <a:t>Taxnele</a:t>
                      </a:r>
                      <a:r>
                        <a:rPr sz="800" spc="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c32</a:t>
                      </a:r>
                      <a:r>
                        <a:rPr sz="800" spc="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2p</a:t>
                      </a:r>
                      <a:r>
                        <a:rPr sz="800" spc="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ac</a:t>
                      </a:r>
                      <a:r>
                        <a:rPr sz="800" spc="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spc="-10" dirty="0">
                          <a:latin typeface="Trebuchet MS"/>
                          <a:cs typeface="Trebuchet MS"/>
                        </a:rPr>
                        <a:t>breaker</a:t>
                      </a:r>
                      <a:endParaRPr sz="800" dirty="0">
                        <a:latin typeface="Trebuchet MS"/>
                        <a:cs typeface="Trebuchet MS"/>
                      </a:endParaRPr>
                    </a:p>
                  </a:txBody>
                  <a:tcPr marL="0" marR="0" marT="13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8910">
                <a:tc>
                  <a:txBody>
                    <a:bodyPr/>
                    <a:lstStyle/>
                    <a:p>
                      <a:pPr algn="ctr">
                        <a:lnSpc>
                          <a:spcPts val="1185"/>
                        </a:lnSpc>
                      </a:pPr>
                      <a:r>
                        <a:rPr sz="1000" spc="-50" dirty="0">
                          <a:latin typeface="Calibri"/>
                          <a:cs typeface="Calibri"/>
                        </a:rPr>
                        <a:t>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85"/>
                        </a:lnSpc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PV</a:t>
                      </a:r>
                      <a:r>
                        <a:rPr sz="10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Meter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ts val="910"/>
                        </a:lnSpc>
                        <a:spcBef>
                          <a:spcPts val="320"/>
                        </a:spcBef>
                      </a:pPr>
                      <a:r>
                        <a:rPr sz="800" dirty="0">
                          <a:latin typeface="Trebuchet MS"/>
                          <a:cs typeface="Trebuchet MS"/>
                        </a:rPr>
                        <a:t>Acrel</a:t>
                      </a:r>
                      <a:r>
                        <a:rPr sz="800" spc="1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adl200</a:t>
                      </a:r>
                      <a:r>
                        <a:rPr sz="800" spc="1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digital</a:t>
                      </a:r>
                      <a:r>
                        <a:rPr sz="800" spc="1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spc="-20" dirty="0">
                          <a:latin typeface="Trebuchet MS"/>
                          <a:cs typeface="Trebuchet MS"/>
                        </a:rPr>
                        <a:t>meter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8910">
                <a:tc>
                  <a:txBody>
                    <a:bodyPr/>
                    <a:lstStyle/>
                    <a:p>
                      <a:pPr algn="ctr">
                        <a:lnSpc>
                          <a:spcPts val="1185"/>
                        </a:lnSpc>
                      </a:pPr>
                      <a:r>
                        <a:rPr sz="1000" spc="-50" dirty="0">
                          <a:latin typeface="Calibri"/>
                          <a:cs typeface="Calibri"/>
                        </a:rPr>
                        <a:t>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85"/>
                        </a:lnSpc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DB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25" dirty="0">
                          <a:latin typeface="Calibri"/>
                          <a:cs typeface="Calibri"/>
                        </a:rPr>
                        <a:t>Box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800" spc="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row</a:t>
                      </a:r>
                      <a:r>
                        <a:rPr sz="800" spc="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db</a:t>
                      </a:r>
                      <a:r>
                        <a:rPr sz="800" spc="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spc="-25" dirty="0">
                          <a:latin typeface="Trebuchet MS"/>
                          <a:cs typeface="Trebuchet MS"/>
                        </a:rPr>
                        <a:t>box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902004" y="3764804"/>
            <a:ext cx="1412240" cy="2959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2555">
              <a:lnSpc>
                <a:spcPts val="960"/>
              </a:lnSpc>
              <a:spcBef>
                <a:spcPts val="130"/>
              </a:spcBef>
              <a:tabLst>
                <a:tab pos="365125" algn="l"/>
              </a:tabLst>
            </a:pPr>
            <a:r>
              <a:rPr sz="850" spc="-25" dirty="0">
                <a:latin typeface="Arial MT"/>
                <a:cs typeface="Arial MT"/>
              </a:rPr>
              <a:t>8.</a:t>
            </a:r>
            <a:r>
              <a:rPr sz="850" dirty="0">
                <a:latin typeface="Arial MT"/>
                <a:cs typeface="Arial MT"/>
              </a:rPr>
              <a:t>	Ac</a:t>
            </a:r>
            <a:r>
              <a:rPr sz="850" spc="5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spd</a:t>
            </a:r>
            <a:r>
              <a:rPr sz="850" spc="5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suntree</a:t>
            </a:r>
            <a:r>
              <a:rPr sz="850" spc="50" dirty="0">
                <a:latin typeface="Arial MT"/>
                <a:cs typeface="Arial MT"/>
              </a:rPr>
              <a:t> </a:t>
            </a:r>
            <a:r>
              <a:rPr sz="850" spc="-20" dirty="0">
                <a:latin typeface="Arial MT"/>
                <a:cs typeface="Arial MT"/>
              </a:rPr>
              <a:t>40kA</a:t>
            </a:r>
            <a:endParaRPr sz="850">
              <a:latin typeface="Arial MT"/>
              <a:cs typeface="Arial MT"/>
            </a:endParaRPr>
          </a:p>
          <a:p>
            <a:pPr marL="12700">
              <a:lnSpc>
                <a:spcPts val="1140"/>
              </a:lnSpc>
            </a:pPr>
            <a:r>
              <a:rPr sz="1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General</a:t>
            </a:r>
            <a:r>
              <a:rPr sz="1000" b="1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Scope</a:t>
            </a:r>
            <a:r>
              <a:rPr sz="1000" b="1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10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Works</a:t>
            </a:r>
            <a:endParaRPr sz="1000">
              <a:latin typeface="Calibri"/>
              <a:cs typeface="Calibri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424040"/>
              </p:ext>
            </p:extLst>
          </p:nvPr>
        </p:nvGraphicFramePr>
        <p:xfrm>
          <a:off x="914704" y="4170298"/>
          <a:ext cx="5732780" cy="18091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1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1785">
                <a:tc>
                  <a:txBody>
                    <a:bodyPr/>
                    <a:lstStyle/>
                    <a:p>
                      <a:pPr algn="ctr">
                        <a:lnSpc>
                          <a:spcPts val="1185"/>
                        </a:lnSpc>
                      </a:pPr>
                      <a:r>
                        <a:rPr sz="1000" b="1" spc="-25" dirty="0">
                          <a:latin typeface="Calibri"/>
                          <a:cs typeface="Calibri"/>
                        </a:rPr>
                        <a:t>No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5"/>
                        </a:lnSpc>
                      </a:pPr>
                      <a:r>
                        <a:rPr sz="1000" b="1" spc="-10" dirty="0">
                          <a:latin typeface="Calibri"/>
                          <a:cs typeface="Calibri"/>
                        </a:rPr>
                        <a:t>Description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85"/>
                        </a:lnSpc>
                      </a:pPr>
                      <a:r>
                        <a:rPr sz="1000" b="1" spc="-10" dirty="0">
                          <a:latin typeface="Calibri"/>
                          <a:cs typeface="Calibri"/>
                        </a:rPr>
                        <a:t>Complete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85"/>
                        </a:lnSpc>
                      </a:pPr>
                      <a:r>
                        <a:rPr sz="1000" b="1" spc="-10" dirty="0">
                          <a:latin typeface="Calibri"/>
                          <a:cs typeface="Calibri"/>
                        </a:rPr>
                        <a:t>Photo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"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000" spc="-50" dirty="0">
                          <a:latin typeface="Calibri"/>
                          <a:cs typeface="Calibri"/>
                        </a:rPr>
                        <a:t>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1170"/>
                        </a:lnSpc>
                      </a:pPr>
                      <a:r>
                        <a:rPr lang="en-US" sz="1200" u="sng" spc="569" baseline="10416" dirty="0">
                          <a:uFill>
                            <a:solidFill>
                              <a:srgbClr val="000000"/>
                            </a:solidFill>
                          </a:uFill>
                          <a:latin typeface="Trebuchet MS"/>
                          <a:cs typeface="Trebuchet MS"/>
                        </a:rPr>
                        <a:t>{</a:t>
                      </a:r>
                      <a:r>
                        <a:rPr lang="en-US" sz="1200" u="sng" spc="569" baseline="10416" dirty="0" err="1">
                          <a:uFill>
                            <a:solidFill>
                              <a:srgbClr val="000000"/>
                            </a:solidFill>
                          </a:uFill>
                          <a:latin typeface="Trebuchet MS"/>
                          <a:cs typeface="Trebuchet MS"/>
                        </a:rPr>
                        <a:t>panel_count</a:t>
                      </a:r>
                      <a:r>
                        <a:rPr lang="en-US" sz="1200" u="sng" spc="569" baseline="10416" dirty="0">
                          <a:uFill>
                            <a:solidFill>
                              <a:srgbClr val="000000"/>
                            </a:solidFill>
                          </a:uFill>
                          <a:latin typeface="Trebuchet MS"/>
                          <a:cs typeface="Trebuchet MS"/>
                        </a:rPr>
                        <a:t>}</a:t>
                      </a:r>
                      <a:r>
                        <a:rPr sz="1200" u="sng" spc="569" baseline="10416" dirty="0">
                          <a:uFill>
                            <a:solidFill>
                              <a:srgbClr val="000000"/>
                            </a:solidFill>
                          </a:u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nos.</a:t>
                      </a:r>
                      <a:r>
                        <a:rPr sz="10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of PV modules</a:t>
                      </a:r>
                      <a:r>
                        <a:rPr sz="10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was</a:t>
                      </a:r>
                      <a:r>
                        <a:rPr sz="10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installed.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9855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800" spc="-50" dirty="0">
                          <a:latin typeface="Trebuchet MS"/>
                          <a:cs typeface="Trebuchet MS"/>
                        </a:rPr>
                        <a:t>/</a:t>
                      </a:r>
                      <a:endParaRPr sz="800" dirty="0">
                        <a:latin typeface="Trebuchet MS"/>
                        <a:cs typeface="Trebuchet MS"/>
                      </a:endParaRPr>
                    </a:p>
                  </a:txBody>
                  <a:tcPr marL="0" marR="0" marT="196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660">
                <a:tc>
                  <a:txBody>
                    <a:bodyPr/>
                    <a:lstStyle/>
                    <a:p>
                      <a:pPr algn="ctr">
                        <a:lnSpc>
                          <a:spcPts val="1185"/>
                        </a:lnSpc>
                      </a:pPr>
                      <a:r>
                        <a:rPr sz="1000" spc="-50" dirty="0">
                          <a:latin typeface="Calibri"/>
                          <a:cs typeface="Calibri"/>
                        </a:rPr>
                        <a:t>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85"/>
                        </a:lnSpc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Inverter</a:t>
                      </a:r>
                      <a:r>
                        <a:rPr sz="10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installed</a:t>
                      </a:r>
                      <a:r>
                        <a:rPr sz="1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LED</a:t>
                      </a:r>
                      <a:r>
                        <a:rPr sz="10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displayed</a:t>
                      </a:r>
                      <a:r>
                        <a:rPr sz="1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showing</a:t>
                      </a:r>
                      <a:r>
                        <a:rPr sz="10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current</a:t>
                      </a:r>
                      <a:r>
                        <a:rPr sz="1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energy</a:t>
                      </a:r>
                      <a:r>
                        <a:rPr sz="1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production</a:t>
                      </a:r>
                      <a:r>
                        <a:rPr sz="1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data.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800" spc="-50" dirty="0">
                          <a:latin typeface="Trebuchet MS"/>
                          <a:cs typeface="Trebuchet MS"/>
                        </a:rPr>
                        <a:t>/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69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290"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000" spc="-50" dirty="0">
                          <a:latin typeface="Calibri"/>
                          <a:cs typeface="Calibri"/>
                        </a:rPr>
                        <a:t>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70"/>
                        </a:lnSpc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AC</a:t>
                      </a:r>
                      <a:r>
                        <a:rPr sz="1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breaker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installed.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2390" algn="ctr">
                        <a:lnSpc>
                          <a:spcPts val="915"/>
                        </a:lnSpc>
                        <a:spcBef>
                          <a:spcPts val="254"/>
                        </a:spcBef>
                      </a:pPr>
                      <a:r>
                        <a:rPr sz="800" spc="-50" dirty="0">
                          <a:latin typeface="Trebuchet MS"/>
                          <a:cs typeface="Trebuchet MS"/>
                        </a:rPr>
                        <a:t>/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3238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290"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000" spc="-50" dirty="0">
                          <a:latin typeface="Calibri"/>
                          <a:cs typeface="Calibri"/>
                        </a:rPr>
                        <a:t>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70"/>
                        </a:lnSpc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PV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meter</a:t>
                      </a:r>
                      <a:r>
                        <a:rPr sz="1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installed</a:t>
                      </a:r>
                      <a:r>
                        <a:rPr sz="1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actual</a:t>
                      </a:r>
                      <a:r>
                        <a:rPr sz="1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energy</a:t>
                      </a:r>
                      <a:r>
                        <a:rPr sz="1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produced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system</a:t>
                      </a:r>
                      <a:r>
                        <a:rPr sz="10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 displayed.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572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50" dirty="0">
                          <a:latin typeface="Trebuchet MS"/>
                          <a:cs typeface="Trebuchet MS"/>
                        </a:rPr>
                        <a:t>/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247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290"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000" spc="-50" dirty="0">
                          <a:latin typeface="Calibri"/>
                          <a:cs typeface="Calibri"/>
                        </a:rPr>
                        <a:t>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75"/>
                        </a:lnSpc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Actual</a:t>
                      </a:r>
                      <a:r>
                        <a:rPr sz="1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energy</a:t>
                      </a:r>
                      <a:r>
                        <a:rPr sz="1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produced</a:t>
                      </a:r>
                      <a:r>
                        <a:rPr sz="1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system</a:t>
                      </a:r>
                      <a:r>
                        <a:rPr sz="1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displayed in</a:t>
                      </a:r>
                      <a:r>
                        <a:rPr sz="1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PV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System.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0" algn="ctr">
                        <a:lnSpc>
                          <a:spcPts val="875"/>
                        </a:lnSpc>
                        <a:spcBef>
                          <a:spcPts val="295"/>
                        </a:spcBef>
                      </a:pPr>
                      <a:r>
                        <a:rPr sz="800" spc="-50" dirty="0">
                          <a:latin typeface="Trebuchet MS"/>
                          <a:cs typeface="Trebuchet MS"/>
                        </a:rPr>
                        <a:t>/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290"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000" spc="-50" dirty="0">
                          <a:latin typeface="Calibri"/>
                          <a:cs typeface="Calibri"/>
                        </a:rPr>
                        <a:t>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70"/>
                        </a:lnSpc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System</a:t>
                      </a:r>
                      <a:r>
                        <a:rPr sz="10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installed</a:t>
                      </a:r>
                      <a:r>
                        <a:rPr sz="1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tested</a:t>
                      </a:r>
                      <a:r>
                        <a:rPr sz="1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error</a:t>
                      </a:r>
                      <a:r>
                        <a:rPr sz="1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observed</a:t>
                      </a:r>
                      <a:r>
                        <a:rPr sz="1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inverter.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800" spc="-50" dirty="0">
                          <a:latin typeface="Trebuchet MS"/>
                          <a:cs typeface="Trebuchet MS"/>
                        </a:rPr>
                        <a:t>/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158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>
                        <a:lnSpc>
                          <a:spcPts val="1185"/>
                        </a:lnSpc>
                      </a:pPr>
                      <a:r>
                        <a:rPr sz="1000" spc="-50" dirty="0">
                          <a:latin typeface="Calibri"/>
                          <a:cs typeface="Calibri"/>
                        </a:rPr>
                        <a:t>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85"/>
                        </a:lnSpc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DC</a:t>
                      </a:r>
                      <a:r>
                        <a:rPr sz="1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cable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0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connected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inverter</a:t>
                      </a:r>
                      <a:r>
                        <a:rPr sz="1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AC</a:t>
                      </a:r>
                      <a:r>
                        <a:rPr sz="1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cable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0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well</a:t>
                      </a:r>
                      <a:r>
                        <a:rPr sz="1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laying from</a:t>
                      </a:r>
                      <a:r>
                        <a:rPr sz="1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inverter</a:t>
                      </a:r>
                      <a:r>
                        <a:rPr sz="1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25" dirty="0">
                          <a:latin typeface="Calibri"/>
                          <a:cs typeface="Calibri"/>
                        </a:rPr>
                        <a:t>DB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4930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800" spc="-50" dirty="0">
                          <a:latin typeface="Trebuchet MS"/>
                          <a:cs typeface="Trebuchet MS"/>
                        </a:rPr>
                        <a:t>/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190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1290"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000" spc="-50" dirty="0">
                          <a:latin typeface="Calibri"/>
                          <a:cs typeface="Calibri"/>
                        </a:rPr>
                        <a:t>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70"/>
                        </a:lnSpc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trunking</a:t>
                      </a:r>
                      <a:r>
                        <a:rPr sz="10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conduits</a:t>
                      </a:r>
                      <a:r>
                        <a:rPr sz="10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installed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0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secured</a:t>
                      </a:r>
                      <a:r>
                        <a:rPr sz="1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properly.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8575" algn="ctr">
                        <a:lnSpc>
                          <a:spcPts val="944"/>
                        </a:lnSpc>
                        <a:spcBef>
                          <a:spcPts val="225"/>
                        </a:spcBef>
                      </a:pPr>
                      <a:r>
                        <a:rPr sz="800" spc="-50" dirty="0">
                          <a:latin typeface="Trebuchet MS"/>
                          <a:cs typeface="Trebuchet MS"/>
                        </a:rPr>
                        <a:t>/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1290"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000" spc="-50" dirty="0">
                          <a:latin typeface="Calibri"/>
                          <a:cs typeface="Calibri"/>
                        </a:rPr>
                        <a:t>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70"/>
                        </a:lnSpc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App</a:t>
                      </a:r>
                      <a:r>
                        <a:rPr sz="1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setup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Wifi</a:t>
                      </a:r>
                      <a:r>
                        <a:rPr sz="1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Setup.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145" algn="ctr">
                        <a:lnSpc>
                          <a:spcPts val="915"/>
                        </a:lnSpc>
                        <a:spcBef>
                          <a:spcPts val="254"/>
                        </a:spcBef>
                      </a:pPr>
                      <a:r>
                        <a:rPr sz="800" spc="-50" dirty="0">
                          <a:latin typeface="Trebuchet MS"/>
                          <a:cs typeface="Trebuchet MS"/>
                        </a:rPr>
                        <a:t>/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3238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902004" y="6088760"/>
            <a:ext cx="13544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Testing</a:t>
            </a:r>
            <a:r>
              <a:rPr sz="1000" b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&amp;</a:t>
            </a:r>
            <a:r>
              <a:rPr sz="1000" b="1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Commissioning</a:t>
            </a:r>
            <a:endParaRPr sz="1000">
              <a:latin typeface="Calibri"/>
              <a:cs typeface="Calibri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8242024"/>
              </p:ext>
            </p:extLst>
          </p:nvPr>
        </p:nvGraphicFramePr>
        <p:xfrm>
          <a:off x="914704" y="6375780"/>
          <a:ext cx="5727699" cy="1535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43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4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3355">
                <a:tc>
                  <a:txBody>
                    <a:bodyPr/>
                    <a:lstStyle/>
                    <a:p>
                      <a:pPr algn="ctr">
                        <a:lnSpc>
                          <a:spcPts val="1185"/>
                        </a:lnSpc>
                      </a:pPr>
                      <a:r>
                        <a:rPr sz="1000" b="1" spc="-25" dirty="0">
                          <a:latin typeface="Calibri"/>
                          <a:cs typeface="Calibri"/>
                        </a:rPr>
                        <a:t>No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2290">
                        <a:lnSpc>
                          <a:spcPts val="1185"/>
                        </a:lnSpc>
                      </a:pPr>
                      <a:r>
                        <a:rPr sz="1000" b="1" spc="-10" dirty="0">
                          <a:latin typeface="Calibri"/>
                          <a:cs typeface="Calibri"/>
                        </a:rPr>
                        <a:t>Description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5"/>
                        </a:lnSpc>
                      </a:pPr>
                      <a:r>
                        <a:rPr sz="1000" b="1" spc="-10" dirty="0">
                          <a:latin typeface="Calibri"/>
                          <a:cs typeface="Calibri"/>
                        </a:rPr>
                        <a:t>Remark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85"/>
                        </a:lnSpc>
                      </a:pPr>
                      <a:r>
                        <a:rPr sz="1000" b="1" spc="-10" dirty="0">
                          <a:latin typeface="Calibri"/>
                          <a:cs typeface="Calibri"/>
                        </a:rPr>
                        <a:t>Photo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ts val="1185"/>
                        </a:lnSpc>
                      </a:pPr>
                      <a:r>
                        <a:rPr sz="1000" spc="-50" dirty="0">
                          <a:latin typeface="Calibri"/>
                          <a:cs typeface="Calibri"/>
                        </a:rPr>
                        <a:t>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960755">
                        <a:lnSpc>
                          <a:spcPts val="1220"/>
                        </a:lnSpc>
                        <a:spcBef>
                          <a:spcPts val="5"/>
                        </a:spcBef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Strings</a:t>
                      </a:r>
                      <a:r>
                        <a:rPr sz="10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VOC: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Strings</a:t>
                      </a:r>
                      <a:r>
                        <a:rPr sz="10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Vmp: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9860">
                        <a:lnSpc>
                          <a:spcPct val="100000"/>
                        </a:lnSpc>
                        <a:spcBef>
                          <a:spcPts val="40"/>
                        </a:spcBef>
                        <a:tabLst>
                          <a:tab pos="1525905" algn="l"/>
                        </a:tabLst>
                      </a:pPr>
                      <a:r>
                        <a:rPr sz="800" dirty="0">
                          <a:latin typeface="Trebuchet MS"/>
                          <a:cs typeface="Trebuchet MS"/>
                        </a:rPr>
                        <a:t>String</a:t>
                      </a:r>
                      <a:r>
                        <a:rPr sz="800" spc="1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800" spc="1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en-MY" sz="800" spc="9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800" spc="1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en-US" sz="800" spc="130" dirty="0">
                          <a:latin typeface="Trebuchet MS"/>
                          <a:cs typeface="Trebuchet MS"/>
                        </a:rPr>
                        <a:t>{string_1_count}</a:t>
                      </a:r>
                      <a:r>
                        <a:rPr sz="800" spc="1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dirty="0" err="1">
                          <a:latin typeface="Trebuchet MS"/>
                          <a:cs typeface="Trebuchet MS"/>
                        </a:rPr>
                        <a:t>nos</a:t>
                      </a:r>
                      <a:r>
                        <a:rPr sz="800" spc="1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spc="-10" dirty="0">
                          <a:latin typeface="Trebuchet MS"/>
                          <a:cs typeface="Trebuchet MS"/>
                        </a:rPr>
                        <a:t>:</a:t>
                      </a:r>
                      <a:r>
                        <a:rPr lang="en-US" sz="800" spc="-10" dirty="0">
                          <a:latin typeface="Trebuchet MS"/>
                          <a:cs typeface="Trebuchet MS"/>
                        </a:rPr>
                        <a:t>{string_1_v}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	Sting</a:t>
                      </a:r>
                      <a:r>
                        <a:rPr sz="800" spc="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spc="60" dirty="0">
                          <a:latin typeface="Trebuchet MS"/>
                          <a:cs typeface="Trebuchet MS"/>
                        </a:rPr>
                        <a:t>2-</a:t>
                      </a:r>
                      <a:r>
                        <a:rPr sz="800" spc="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en-US" sz="800" spc="135" dirty="0">
                          <a:latin typeface="Trebuchet MS"/>
                          <a:cs typeface="Trebuchet MS"/>
                        </a:rPr>
                        <a:t>{string_2_count}</a:t>
                      </a:r>
                      <a:r>
                        <a:rPr sz="800" spc="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spc="-10" dirty="0">
                          <a:latin typeface="Trebuchet MS"/>
                          <a:cs typeface="Trebuchet MS"/>
                        </a:rPr>
                        <a:t>:</a:t>
                      </a:r>
                      <a:r>
                        <a:rPr lang="en-US" sz="800" spc="-10" dirty="0">
                          <a:latin typeface="Trebuchet MS"/>
                          <a:cs typeface="Trebuchet MS"/>
                        </a:rPr>
                        <a:t>{string_2_v}</a:t>
                      </a:r>
                      <a:r>
                        <a:rPr sz="800" spc="-10" dirty="0">
                          <a:latin typeface="Trebuchet MS"/>
                          <a:cs typeface="Trebuchet MS"/>
                        </a:rPr>
                        <a:t>v</a:t>
                      </a:r>
                      <a:endParaRPr sz="800" dirty="0">
                        <a:latin typeface="Trebuchet MS"/>
                        <a:cs typeface="Trebuchet MS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ctr">
                        <a:lnSpc>
                          <a:spcPts val="1185"/>
                        </a:lnSpc>
                      </a:pPr>
                      <a:r>
                        <a:rPr sz="1000" spc="-50" dirty="0">
                          <a:latin typeface="Calibri"/>
                          <a:cs typeface="Calibri"/>
                        </a:rPr>
                        <a:t>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90805">
                        <a:lnSpc>
                          <a:spcPts val="1220"/>
                        </a:lnSpc>
                        <a:spcBef>
                          <a:spcPts val="5"/>
                        </a:spcBef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AC</a:t>
                      </a:r>
                      <a:r>
                        <a:rPr sz="10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Voltage</a:t>
                      </a:r>
                      <a:r>
                        <a:rPr sz="10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When</a:t>
                      </a:r>
                      <a:r>
                        <a:rPr sz="1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Inverter</a:t>
                      </a:r>
                      <a:r>
                        <a:rPr sz="10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25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 Before</a:t>
                      </a:r>
                      <a:r>
                        <a:rPr sz="10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(R/Y/B):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L="67945">
                        <a:lnSpc>
                          <a:spcPts val="1175"/>
                        </a:lnSpc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After</a:t>
                      </a:r>
                      <a:r>
                        <a:rPr sz="10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(R/Y/B):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0340" marR="2301240" indent="-47625">
                        <a:lnSpc>
                          <a:spcPts val="1630"/>
                        </a:lnSpc>
                        <a:spcBef>
                          <a:spcPts val="30"/>
                        </a:spcBef>
                      </a:pPr>
                      <a:r>
                        <a:rPr sz="800" dirty="0">
                          <a:latin typeface="Trebuchet MS"/>
                          <a:cs typeface="Trebuchet MS"/>
                        </a:rPr>
                        <a:t>Before</a:t>
                      </a:r>
                      <a:r>
                        <a:rPr sz="800" spc="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LN:</a:t>
                      </a:r>
                      <a:r>
                        <a:rPr sz="800" spc="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en-US" sz="800" spc="-10" dirty="0">
                          <a:latin typeface="Trebuchet MS"/>
                          <a:cs typeface="Trebuchet MS"/>
                        </a:rPr>
                        <a:t>{</a:t>
                      </a:r>
                      <a:r>
                        <a:rPr lang="en-US" sz="800" spc="-10" dirty="0" err="1">
                          <a:latin typeface="Trebuchet MS"/>
                          <a:cs typeface="Trebuchet MS"/>
                        </a:rPr>
                        <a:t>line_neutral_before</a:t>
                      </a:r>
                      <a:r>
                        <a:rPr lang="en-US" sz="800" spc="-10" dirty="0">
                          <a:latin typeface="Trebuchet MS"/>
                          <a:cs typeface="Trebuchet MS"/>
                        </a:rPr>
                        <a:t>}</a:t>
                      </a:r>
                      <a:r>
                        <a:rPr sz="800" spc="-10" dirty="0">
                          <a:latin typeface="Trebuchet MS"/>
                          <a:cs typeface="Trebuchet MS"/>
                        </a:rPr>
                        <a:t>v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After</a:t>
                      </a:r>
                      <a:r>
                        <a:rPr sz="800" spc="1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LN:</a:t>
                      </a:r>
                      <a:r>
                        <a:rPr sz="800" spc="1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en-US" sz="800" spc="-10" dirty="0">
                          <a:latin typeface="Trebuchet MS"/>
                          <a:cs typeface="Trebuchet MS"/>
                        </a:rPr>
                        <a:t>{</a:t>
                      </a:r>
                      <a:r>
                        <a:rPr lang="en-US" sz="800" spc="-10" dirty="0" err="1">
                          <a:latin typeface="Trebuchet MS"/>
                          <a:cs typeface="Trebuchet MS"/>
                        </a:rPr>
                        <a:t>line_neutral_after</a:t>
                      </a:r>
                      <a:r>
                        <a:rPr lang="en-US" sz="800" spc="-10" dirty="0">
                          <a:latin typeface="Trebuchet MS"/>
                          <a:cs typeface="Trebuchet MS"/>
                        </a:rPr>
                        <a:t>}</a:t>
                      </a:r>
                      <a:r>
                        <a:rPr sz="800" spc="-10" dirty="0">
                          <a:latin typeface="Trebuchet MS"/>
                          <a:cs typeface="Trebuchet MS"/>
                        </a:rPr>
                        <a:t>v</a:t>
                      </a:r>
                      <a:endParaRPr sz="800" dirty="0">
                        <a:latin typeface="Trebuchet MS"/>
                        <a:cs typeface="Trebuchet MS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986332" y="9676891"/>
            <a:ext cx="3968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Others: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14704" y="7517650"/>
            <a:ext cx="5732780" cy="2802890"/>
          </a:xfrm>
          <a:custGeom>
            <a:avLst/>
            <a:gdLst/>
            <a:ahLst/>
            <a:cxnLst/>
            <a:rect l="l" t="t" r="r" b="b"/>
            <a:pathLst>
              <a:path w="5732780" h="2802890">
                <a:moveTo>
                  <a:pt x="5726544" y="2796794"/>
                </a:moveTo>
                <a:lnTo>
                  <a:pt x="6096" y="2796794"/>
                </a:lnTo>
                <a:lnTo>
                  <a:pt x="0" y="2796794"/>
                </a:lnTo>
                <a:lnTo>
                  <a:pt x="0" y="2802877"/>
                </a:lnTo>
                <a:lnTo>
                  <a:pt x="6096" y="2802877"/>
                </a:lnTo>
                <a:lnTo>
                  <a:pt x="5726544" y="2802877"/>
                </a:lnTo>
                <a:lnTo>
                  <a:pt x="5726544" y="2796794"/>
                </a:lnTo>
                <a:close/>
              </a:path>
              <a:path w="5732780" h="2802890">
                <a:moveTo>
                  <a:pt x="5726544" y="0"/>
                </a:moveTo>
                <a:lnTo>
                  <a:pt x="6096" y="0"/>
                </a:lnTo>
                <a:lnTo>
                  <a:pt x="0" y="0"/>
                </a:lnTo>
                <a:lnTo>
                  <a:pt x="0" y="6083"/>
                </a:lnTo>
                <a:lnTo>
                  <a:pt x="0" y="2796781"/>
                </a:lnTo>
                <a:lnTo>
                  <a:pt x="6096" y="2796781"/>
                </a:lnTo>
                <a:lnTo>
                  <a:pt x="6096" y="6083"/>
                </a:lnTo>
                <a:lnTo>
                  <a:pt x="5726544" y="6083"/>
                </a:lnTo>
                <a:lnTo>
                  <a:pt x="5726544" y="0"/>
                </a:lnTo>
                <a:close/>
              </a:path>
              <a:path w="5732780" h="2802890">
                <a:moveTo>
                  <a:pt x="5732729" y="2796794"/>
                </a:moveTo>
                <a:lnTo>
                  <a:pt x="5726633" y="2796794"/>
                </a:lnTo>
                <a:lnTo>
                  <a:pt x="5726633" y="2802877"/>
                </a:lnTo>
                <a:lnTo>
                  <a:pt x="5732729" y="2802877"/>
                </a:lnTo>
                <a:lnTo>
                  <a:pt x="5732729" y="2796794"/>
                </a:lnTo>
                <a:close/>
              </a:path>
              <a:path w="5732780" h="2802890">
                <a:moveTo>
                  <a:pt x="5732729" y="0"/>
                </a:moveTo>
                <a:lnTo>
                  <a:pt x="5726633" y="0"/>
                </a:lnTo>
                <a:lnTo>
                  <a:pt x="5726633" y="6083"/>
                </a:lnTo>
                <a:lnTo>
                  <a:pt x="5726633" y="2796781"/>
                </a:lnTo>
                <a:lnTo>
                  <a:pt x="5732729" y="2796781"/>
                </a:lnTo>
                <a:lnTo>
                  <a:pt x="5732729" y="6083"/>
                </a:lnTo>
                <a:lnTo>
                  <a:pt x="57327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550832" y="9708391"/>
            <a:ext cx="1628775" cy="445828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800" dirty="0">
                <a:latin typeface="Trebuchet MS"/>
                <a:cs typeface="Trebuchet MS"/>
              </a:rPr>
              <a:t>Solis</a:t>
            </a:r>
            <a:r>
              <a:rPr sz="800" spc="90" dirty="0">
                <a:latin typeface="Trebuchet MS"/>
                <a:cs typeface="Trebuchet MS"/>
              </a:rPr>
              <a:t> </a:t>
            </a:r>
            <a:r>
              <a:rPr sz="800" spc="-10" dirty="0">
                <a:latin typeface="Trebuchet MS"/>
                <a:cs typeface="Trebuchet MS"/>
              </a:rPr>
              <a:t>cloud</a:t>
            </a:r>
            <a:endParaRPr sz="800" dirty="0">
              <a:latin typeface="Trebuchet MS"/>
              <a:cs typeface="Trebuchet MS"/>
            </a:endParaRPr>
          </a:p>
          <a:p>
            <a:pPr marR="5080">
              <a:lnSpc>
                <a:spcPct val="121300"/>
              </a:lnSpc>
            </a:pPr>
            <a:r>
              <a:rPr sz="800" dirty="0">
                <a:latin typeface="Trebuchet MS"/>
                <a:cs typeface="Trebuchet MS"/>
              </a:rPr>
              <a:t>Plant</a:t>
            </a:r>
            <a:r>
              <a:rPr sz="800" spc="55" dirty="0">
                <a:latin typeface="Trebuchet MS"/>
                <a:cs typeface="Trebuchet MS"/>
              </a:rPr>
              <a:t> </a:t>
            </a:r>
            <a:r>
              <a:rPr sz="800" dirty="0">
                <a:latin typeface="Trebuchet MS"/>
                <a:cs typeface="Trebuchet MS"/>
              </a:rPr>
              <a:t>name</a:t>
            </a:r>
            <a:r>
              <a:rPr sz="800" spc="60" dirty="0">
                <a:latin typeface="Trebuchet MS"/>
                <a:cs typeface="Trebuchet MS"/>
              </a:rPr>
              <a:t> </a:t>
            </a:r>
            <a:r>
              <a:rPr sz="800" dirty="0">
                <a:latin typeface="Trebuchet MS"/>
                <a:cs typeface="Trebuchet MS"/>
              </a:rPr>
              <a:t>:</a:t>
            </a:r>
            <a:r>
              <a:rPr sz="800" spc="55" dirty="0">
                <a:latin typeface="Trebuchet MS"/>
                <a:cs typeface="Trebuchet MS"/>
              </a:rPr>
              <a:t> </a:t>
            </a:r>
            <a:r>
              <a:rPr lang="en-US" sz="800" dirty="0">
                <a:latin typeface="Trebuchet MS"/>
                <a:cs typeface="Trebuchet MS"/>
              </a:rPr>
              <a:t>{</a:t>
            </a:r>
            <a:r>
              <a:rPr lang="en-US" sz="800" dirty="0" err="1">
                <a:latin typeface="Trebuchet MS"/>
                <a:cs typeface="Trebuchet MS"/>
              </a:rPr>
              <a:t>plant_name</a:t>
            </a:r>
            <a:r>
              <a:rPr lang="en-US" sz="800" dirty="0">
                <a:latin typeface="Trebuchet MS"/>
                <a:cs typeface="Trebuchet MS"/>
              </a:rPr>
              <a:t>}</a:t>
            </a:r>
          </a:p>
          <a:p>
            <a:pPr marR="5080">
              <a:lnSpc>
                <a:spcPct val="121300"/>
              </a:lnSpc>
            </a:pPr>
            <a:r>
              <a:rPr sz="800" dirty="0">
                <a:latin typeface="Trebuchet MS"/>
                <a:cs typeface="Trebuchet MS"/>
              </a:rPr>
              <a:t>Inv</a:t>
            </a:r>
            <a:r>
              <a:rPr sz="800" spc="105" dirty="0">
                <a:latin typeface="Trebuchet MS"/>
                <a:cs typeface="Trebuchet MS"/>
              </a:rPr>
              <a:t> </a:t>
            </a:r>
            <a:r>
              <a:rPr sz="800" dirty="0">
                <a:latin typeface="Trebuchet MS"/>
                <a:cs typeface="Trebuchet MS"/>
              </a:rPr>
              <a:t>pass:</a:t>
            </a:r>
            <a:r>
              <a:rPr sz="800" spc="105" dirty="0">
                <a:latin typeface="Trebuchet MS"/>
                <a:cs typeface="Trebuchet MS"/>
              </a:rPr>
              <a:t> </a:t>
            </a:r>
            <a:r>
              <a:rPr sz="800" spc="-10" dirty="0">
                <a:latin typeface="Trebuchet MS"/>
                <a:cs typeface="Trebuchet MS"/>
              </a:rPr>
              <a:t>admin1234</a:t>
            </a:r>
            <a:endParaRPr sz="800" dirty="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75371" y="8038851"/>
            <a:ext cx="3141168" cy="101502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ts val="1145"/>
              </a:lnSpc>
              <a:spcBef>
                <a:spcPts val="95"/>
              </a:spcBef>
            </a:pPr>
            <a:r>
              <a:rPr sz="10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Remarks:</a:t>
            </a:r>
            <a:endParaRPr lang="en-US" sz="1000" b="1" u="sng" spc="-10" dirty="0">
              <a:uFill>
                <a:solidFill>
                  <a:srgbClr val="000000"/>
                </a:solidFill>
              </a:uFill>
              <a:latin typeface="Calibri"/>
              <a:cs typeface="Calibri"/>
            </a:endParaRPr>
          </a:p>
          <a:p>
            <a:pPr marL="25400">
              <a:lnSpc>
                <a:spcPts val="1145"/>
              </a:lnSpc>
              <a:spcBef>
                <a:spcPts val="95"/>
              </a:spcBef>
            </a:pPr>
            <a:r>
              <a:rPr sz="1500" baseline="-5555" dirty="0">
                <a:latin typeface="Calibri"/>
                <a:cs typeface="Calibri"/>
              </a:rPr>
              <a:t>PV</a:t>
            </a:r>
            <a:r>
              <a:rPr sz="1500" spc="-30" baseline="-5555" dirty="0">
                <a:latin typeface="Calibri"/>
                <a:cs typeface="Calibri"/>
              </a:rPr>
              <a:t> </a:t>
            </a:r>
            <a:r>
              <a:rPr sz="1500" baseline="-5555" dirty="0">
                <a:latin typeface="Calibri"/>
                <a:cs typeface="Calibri"/>
              </a:rPr>
              <a:t>modules</a:t>
            </a:r>
            <a:r>
              <a:rPr sz="1500" spc="-30" baseline="-5555" dirty="0">
                <a:latin typeface="Calibri"/>
                <a:cs typeface="Calibri"/>
              </a:rPr>
              <a:t> </a:t>
            </a:r>
            <a:r>
              <a:rPr sz="1500" baseline="-5555" dirty="0">
                <a:latin typeface="Calibri"/>
                <a:cs typeface="Calibri"/>
              </a:rPr>
              <a:t>Serial</a:t>
            </a:r>
            <a:r>
              <a:rPr sz="1500" spc="-22" baseline="-5555" dirty="0">
                <a:latin typeface="Calibri"/>
                <a:cs typeface="Calibri"/>
              </a:rPr>
              <a:t> </a:t>
            </a:r>
            <a:r>
              <a:rPr sz="1500" baseline="-5555" dirty="0">
                <a:latin typeface="Calibri"/>
                <a:cs typeface="Calibri"/>
              </a:rPr>
              <a:t>number:</a:t>
            </a:r>
            <a:r>
              <a:rPr sz="1500" spc="225" baseline="-5555" dirty="0">
                <a:latin typeface="Calibri"/>
                <a:cs typeface="Calibri"/>
              </a:rPr>
              <a:t> </a:t>
            </a:r>
            <a:r>
              <a:rPr lang="en-US" sz="800" spc="-10" baseline="-5555" dirty="0">
                <a:latin typeface="Trebuchet MS"/>
                <a:cs typeface="Calibri"/>
              </a:rPr>
              <a:t>{</a:t>
            </a:r>
            <a:r>
              <a:rPr lang="en-US" sz="800" spc="-10" baseline="-5555" dirty="0" err="1">
                <a:latin typeface="Trebuchet MS"/>
                <a:cs typeface="Calibri"/>
              </a:rPr>
              <a:t>panel_sn</a:t>
            </a:r>
            <a:r>
              <a:rPr lang="en-US" sz="800" spc="-10" baseline="-5555" dirty="0">
                <a:latin typeface="Trebuchet MS"/>
                <a:cs typeface="Calibri"/>
              </a:rPr>
              <a:t>}</a:t>
            </a:r>
          </a:p>
          <a:p>
            <a:pPr marR="121920" algn="r">
              <a:lnSpc>
                <a:spcPts val="1145"/>
              </a:lnSpc>
            </a:pPr>
            <a:endParaRPr lang="en-US" sz="800" spc="-10" baseline="-5555" dirty="0">
              <a:latin typeface="Trebuchet MS"/>
              <a:cs typeface="Calibri"/>
            </a:endParaRPr>
          </a:p>
          <a:p>
            <a:pPr marR="121920" algn="r">
              <a:lnSpc>
                <a:spcPts val="1145"/>
              </a:lnSpc>
            </a:pPr>
            <a:endParaRPr lang="en-US" sz="1000" dirty="0">
              <a:latin typeface="Calibri"/>
              <a:cs typeface="Calibri"/>
            </a:endParaRPr>
          </a:p>
          <a:p>
            <a:pPr marR="121920" algn="r">
              <a:lnSpc>
                <a:spcPts val="1145"/>
              </a:lnSpc>
            </a:pPr>
            <a:endParaRPr lang="en-MY" sz="1000" dirty="0">
              <a:latin typeface="Calibri"/>
              <a:cs typeface="Calibri"/>
            </a:endParaRPr>
          </a:p>
          <a:p>
            <a:pPr marL="417830">
              <a:lnSpc>
                <a:spcPct val="100000"/>
              </a:lnSpc>
              <a:spcBef>
                <a:spcPts val="55"/>
              </a:spcBef>
            </a:pPr>
            <a:r>
              <a:rPr sz="800" dirty="0">
                <a:latin typeface="Trebuchet MS"/>
                <a:cs typeface="Trebuchet MS"/>
              </a:rPr>
              <a:t>Inverter</a:t>
            </a:r>
            <a:r>
              <a:rPr sz="800" spc="125" dirty="0">
                <a:latin typeface="Trebuchet MS"/>
                <a:cs typeface="Trebuchet MS"/>
              </a:rPr>
              <a:t> </a:t>
            </a:r>
            <a:r>
              <a:rPr sz="800" spc="55" dirty="0">
                <a:latin typeface="Trebuchet MS"/>
                <a:cs typeface="Trebuchet MS"/>
              </a:rPr>
              <a:t>SN</a:t>
            </a:r>
            <a:r>
              <a:rPr sz="800" spc="125" dirty="0">
                <a:latin typeface="Trebuchet MS"/>
                <a:cs typeface="Trebuchet MS"/>
              </a:rPr>
              <a:t> </a:t>
            </a:r>
            <a:r>
              <a:rPr sz="800" dirty="0">
                <a:latin typeface="Trebuchet MS"/>
                <a:cs typeface="Trebuchet MS"/>
              </a:rPr>
              <a:t>:</a:t>
            </a:r>
            <a:r>
              <a:rPr sz="800" spc="125" dirty="0">
                <a:latin typeface="Trebuchet MS"/>
                <a:cs typeface="Trebuchet MS"/>
              </a:rPr>
              <a:t> </a:t>
            </a:r>
            <a:r>
              <a:rPr lang="en-US" sz="800" spc="-10" dirty="0">
                <a:latin typeface="Trebuchet MS"/>
                <a:cs typeface="Trebuchet MS"/>
              </a:rPr>
              <a:t>{</a:t>
            </a:r>
            <a:r>
              <a:rPr lang="en-US" sz="800" spc="-10" dirty="0" err="1">
                <a:latin typeface="Trebuchet MS"/>
                <a:cs typeface="Trebuchet MS"/>
              </a:rPr>
              <a:t>inverter_sn</a:t>
            </a:r>
            <a:r>
              <a:rPr lang="en-US" sz="800" spc="-10" dirty="0">
                <a:latin typeface="Trebuchet MS"/>
                <a:cs typeface="Trebuchet MS"/>
              </a:rPr>
              <a:t>}</a:t>
            </a:r>
            <a:endParaRPr sz="800" dirty="0">
              <a:latin typeface="Trebuchet MS"/>
              <a:cs typeface="Trebuchet MS"/>
            </a:endParaRPr>
          </a:p>
          <a:p>
            <a:pPr marL="417830">
              <a:lnSpc>
                <a:spcPct val="100000"/>
              </a:lnSpc>
              <a:spcBef>
                <a:spcPts val="204"/>
              </a:spcBef>
            </a:pPr>
            <a:r>
              <a:rPr sz="800" dirty="0">
                <a:latin typeface="Trebuchet MS"/>
                <a:cs typeface="Trebuchet MS"/>
              </a:rPr>
              <a:t>Dongle</a:t>
            </a:r>
            <a:r>
              <a:rPr sz="800" spc="35" dirty="0">
                <a:latin typeface="Trebuchet MS"/>
                <a:cs typeface="Trebuchet MS"/>
              </a:rPr>
              <a:t> </a:t>
            </a:r>
            <a:r>
              <a:rPr sz="800" dirty="0">
                <a:latin typeface="Trebuchet MS"/>
                <a:cs typeface="Trebuchet MS"/>
              </a:rPr>
              <a:t>:</a:t>
            </a:r>
            <a:r>
              <a:rPr sz="800" spc="40" dirty="0">
                <a:latin typeface="Trebuchet MS"/>
                <a:cs typeface="Trebuchet MS"/>
              </a:rPr>
              <a:t> </a:t>
            </a:r>
            <a:r>
              <a:rPr lang="en-US" sz="800" spc="40" dirty="0">
                <a:latin typeface="Trebuchet MS"/>
                <a:cs typeface="Trebuchet MS"/>
              </a:rPr>
              <a:t>{</a:t>
            </a:r>
            <a:r>
              <a:rPr lang="en-US" sz="800" spc="40" dirty="0" err="1">
                <a:latin typeface="Trebuchet MS"/>
                <a:cs typeface="Trebuchet MS"/>
              </a:rPr>
              <a:t>dongle_sn</a:t>
            </a:r>
            <a:r>
              <a:rPr lang="en-US" sz="800" spc="40" dirty="0">
                <a:latin typeface="Trebuchet MS"/>
                <a:cs typeface="Trebuchet MS"/>
              </a:rPr>
              <a:t>}</a:t>
            </a:r>
            <a:endParaRPr sz="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14473" y="426211"/>
            <a:ext cx="353250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Inspection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Checklist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Form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C3B0FB-6EA6-9A40-259A-C2765C4D4D18}"/>
              </a:ext>
            </a:extLst>
          </p:cNvPr>
          <p:cNvSpPr txBox="1"/>
          <p:nvPr/>
        </p:nvSpPr>
        <p:spPr>
          <a:xfrm>
            <a:off x="2197100" y="1635125"/>
            <a:ext cx="2287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{%</a:t>
            </a:r>
            <a:r>
              <a:rPr lang="en-US" dirty="0" err="1"/>
              <a:t>img_solar_layout</a:t>
            </a:r>
            <a:r>
              <a:rPr lang="en-US" dirty="0"/>
              <a:t>}</a:t>
            </a:r>
            <a:endParaRPr lang="en-MY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704</Words>
  <Application>Microsoft Office PowerPoint</Application>
  <PresentationFormat>Custom</PresentationFormat>
  <Paragraphs>124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 MT</vt:lpstr>
      <vt:lpstr>Arial</vt:lpstr>
      <vt:lpstr>Calibri</vt:lpstr>
      <vt:lpstr>Times New Roman</vt:lpstr>
      <vt:lpstr>Trebuchet MS</vt:lpstr>
      <vt:lpstr>Office Theme</vt:lpstr>
      <vt:lpstr>Work Completion Form</vt:lpstr>
      <vt:lpstr>Inspection Checklist Form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Calvin Lee</cp:lastModifiedBy>
  <cp:revision>1</cp:revision>
  <dcterms:created xsi:type="dcterms:W3CDTF">2026-08-13T07:19:36Z</dcterms:created>
  <dcterms:modified xsi:type="dcterms:W3CDTF">2026-08-13T07:28:14Z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2026-07-16T00:00:00Z</vt:filetime>
  </property>
  <property fmtid="{D5CDD505-2E9C-101B-9397-08002B2CF9AE}" pid="4" name="LastSaved">
    <vt:filetime>2026-08-13T00:00:00Z</vt:filetime>
  </property>
  <property fmtid="{D5CDD505-2E9C-101B-9397-08002B2CF9AE}" pid="5" name="Producer">
    <vt:lpwstr>iOS Version 18.5 (Build 22F76) Quartz PDFContext</vt:lpwstr>
  </property>
</Properties>
</file>